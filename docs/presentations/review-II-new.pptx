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9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2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4" r:id="rId4"/>
    <p:sldMasterId id="2147483667" r:id="rId5"/>
    <p:sldMasterId id="214748367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5.xml"/><Relationship Id="rId5" Type="http://schemas.openxmlformats.org/officeDocument/2006/relationships/slideMaster" Target="slideMasters/slideMaster17.xml"/><Relationship Id="rId6" Type="http://schemas.openxmlformats.org/officeDocument/2006/relationships/slideMaster" Target="slideMasters/slideMaster19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PlaceHolder 4"/>
          <p:cNvSpPr>
            <a:spLocks noGrp="1"/>
          </p:cNvSpPr>
          <p:nvPr>
            <p:ph type="dt" idx="58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5"/>
          <p:cNvSpPr>
            <a:spLocks noGrp="1"/>
          </p:cNvSpPr>
          <p:nvPr>
            <p:ph type="ftr" idx="59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6"/>
          <p:cNvSpPr>
            <a:spLocks noGrp="1"/>
          </p:cNvSpPr>
          <p:nvPr>
            <p:ph type="sldNum" idx="60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C9F7725-E847-4749-B9C3-DBB30B52742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336FD3E-93C0-4481-9E2F-61C04C0DB1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28BA80-7B44-4F1E-9DF5-FBCFCF4EB9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160" cy="302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720" cy="5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1C75CDD-B8CC-4262-AF39-6F163C9784F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Box 23"/>
          <p:cNvSpPr/>
          <p:nvPr/>
        </p:nvSpPr>
        <p:spPr>
          <a:xfrm>
            <a:off x="541800" y="790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24"/>
          <p:cNvSpPr/>
          <p:nvPr/>
        </p:nvSpPr>
        <p:spPr>
          <a:xfrm>
            <a:off x="8893080" y="288648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51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52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3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080" cy="302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720" cy="5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FF073A3-392B-439D-B82E-144AE959999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68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69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7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CD7B8BE-8EEA-401D-BF75-B247F9961BF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3560" cy="52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240" cy="52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C7318A4-9981-45FB-B235-127A2BE7E61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00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01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02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5720" cy="18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85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8DAC874-A708-4EEA-90CE-FCB9E914AA8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16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17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18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284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284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68559D9-33A8-454A-9673-9F1743C3025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33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34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3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4640" cy="57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4640" cy="330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4640" cy="57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4640" cy="330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8" name="PlaceHolder 6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7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8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8EA2865-84BD-4C9B-BBDE-6DBF61FEC68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5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5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0AD0EF4-F920-4544-BFA2-1B89BF5E6C5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67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68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9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3440" cy="12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2600" cy="55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3440" cy="25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6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5B17852-E496-4AE5-8DB2-F67E3DCB7FF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57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5720" cy="384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5720" cy="67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7A06C8-CF78-4315-A499-DC6CDA90CFA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01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02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03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340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720" cy="156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3CD4698-BCDE-4900-832B-04887E79E778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17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18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19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160" cy="302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340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720" cy="156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6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52B0D17-EE57-4812-94B3-492B32D80A1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TextBox 19"/>
          <p:cNvSpPr/>
          <p:nvPr/>
        </p:nvSpPr>
        <p:spPr>
          <a:xfrm>
            <a:off x="541800" y="790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1"/>
          <p:cNvSpPr/>
          <p:nvPr/>
        </p:nvSpPr>
        <p:spPr>
          <a:xfrm>
            <a:off x="8893080" y="288648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36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37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38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5720" cy="259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1AB9AA8-5319-405A-8A08-D15CE152BFC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5274DAE-0FEC-4472-A22E-0400F805FC3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68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69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7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8" name="PlaceHolder 1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679A897-6FA0-4EA8-B8E1-BC29DA469E6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77160" y="994680"/>
            <a:ext cx="85957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ftr" idx="49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sldNum" idx="50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22ED307-D74B-4706-AD7C-392EA252D0D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dt" idx="51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00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01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02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677160" y="994680"/>
            <a:ext cx="85957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ftr" idx="52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53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3367A7B-DC34-4AC6-BEAE-3AB430B5DF0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dt" idx="5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84D5B44E-2EAF-44CE-A65F-F1CB6E01E8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4C09ABFF-41DE-4EA6-AE60-29CF65C5E0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1080" y="-8640"/>
            <a:ext cx="12189960" cy="6867360"/>
            <a:chOff x="1080" y="-8640"/>
            <a:chExt cx="12189960" cy="686736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1080" y="1080"/>
              <a:ext cx="841680" cy="56649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446400"/>
            <a:ext cx="859572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54B488C-DDF0-4B2F-AA52-A154A81DA2F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  <p:sldLayoutId id="2147483669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15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16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17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677160" y="994680"/>
            <a:ext cx="85957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ftr" idx="5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4"/>
          <p:cNvSpPr>
            <a:spLocks noGrp="1"/>
          </p:cNvSpPr>
          <p:nvPr>
            <p:ph type="sldNum" idx="5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CCDB635-A22F-4737-96F2-A9D7A9E863D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PlaceHolder 5"/>
          <p:cNvSpPr>
            <a:spLocks noGrp="1"/>
          </p:cNvSpPr>
          <p:nvPr>
            <p:ph type="dt" idx="5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  <p:sldLayoutId id="214748367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914400" y="-267120"/>
            <a:ext cx="8228880" cy="186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 A Cloud-Based Data Leakage Prevention System Using Rule-Based Content Inspection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2"/>
          <p:cNvSpPr/>
          <p:nvPr/>
        </p:nvSpPr>
        <p:spPr>
          <a:xfrm>
            <a:off x="2286000" y="2286000"/>
            <a:ext cx="8499600" cy="28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TEAM MEMBERS 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 SABARIRAJA. S     ( 620822205090 )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 RANJITH. P            ( 620822205084 )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 SHANTHOSH. M   ( 620822205098 )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 ROHITH. V             ( 620822205088 )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GUIDE : JAYANTHI. R,AP/IT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318960" y="27972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Problem Statement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1"/>
          <p:cNvSpPr/>
          <p:nvPr/>
        </p:nvSpPr>
        <p:spPr>
          <a:xfrm>
            <a:off x="457200" y="1371600"/>
            <a:ext cx="9037440" cy="50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Users unknowingly upload sensitive information to cloud platforms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Cloud providers cannot always detect confidential data correctly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Existing DLP solutions rely on centralized inspection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Centralized systems introduce privacy risks and single points of failure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No simple mechanism exists to verify file integrity after upload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 secure, lightweight, user-side DLP system is required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0" y="51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/>
          <p:nvPr/>
        </p:nvSpPr>
        <p:spPr>
          <a:xfrm>
            <a:off x="549360" y="1143000"/>
            <a:ext cx="8594280" cy="44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design a user-side Data Leakage Prevention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detect sensitive data before cloud upload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prevent accidental and malicious data leakage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preserve user privacy during content inspection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verify file integrity using cryptographic hashing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maintain low computational overhead for real-time use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340560" y="0"/>
            <a:ext cx="825516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ectangle 3"/>
          <p:cNvSpPr/>
          <p:nvPr/>
        </p:nvSpPr>
        <p:spPr>
          <a:xfrm>
            <a:off x="379440" y="3570120"/>
            <a:ext cx="350100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4"/>
          <p:cNvSpPr/>
          <p:nvPr/>
        </p:nvSpPr>
        <p:spPr>
          <a:xfrm>
            <a:off x="834840" y="727920"/>
            <a:ext cx="8079840" cy="27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Data is uploaded directly to the cloud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 controls are applied mostly on the server side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Cloud providers perform centralized content inspection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Users have limited visibility and control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Integrity checks are often absent or optional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Content Placeholder 1"/>
          <p:cNvSpPr/>
          <p:nvPr/>
        </p:nvSpPr>
        <p:spPr>
          <a:xfrm>
            <a:off x="685800" y="4156920"/>
            <a:ext cx="8079840" cy="27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Privacy loss due to server-side data inspection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Dependency on cloud service providers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Single point of failure in centralized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Delayed detection of sensitive data leakage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No reliable mechanism to detect file tampering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4"/>
          <p:cNvSpPr/>
          <p:nvPr/>
        </p:nvSpPr>
        <p:spPr>
          <a:xfrm>
            <a:off x="184680" y="3560400"/>
            <a:ext cx="312156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5"/>
          <p:cNvSpPr/>
          <p:nvPr/>
        </p:nvSpPr>
        <p:spPr>
          <a:xfrm>
            <a:off x="685800" y="946080"/>
            <a:ext cx="8594280" cy="27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Data inspection performed on the user device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Rule-based content scanning for sensitive patterns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Upload blocked if sensitive data is detected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Cryptographic hash generated for each 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Hash used to verify file integrity and detect modifications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Content Placeholder 3"/>
          <p:cNvSpPr/>
          <p:nvPr/>
        </p:nvSpPr>
        <p:spPr>
          <a:xfrm>
            <a:off x="685800" y="4207680"/>
            <a:ext cx="859428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Prevents sensitive data leakage at the source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Deterministic and transparent behavior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Lightweight and suitable for real-time operation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No dependence on third-party inspection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Improves trust and security in cloud usage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54000" y="51120"/>
            <a:ext cx="884088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1943640" y="1130400"/>
            <a:ext cx="3197880" cy="68328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6" name=""/>
          <p:cNvSpPr/>
          <p:nvPr/>
        </p:nvSpPr>
        <p:spPr>
          <a:xfrm>
            <a:off x="1943640" y="1130760"/>
            <a:ext cx="3197880" cy="68328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User ( Client / Application)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1943640" y="5016600"/>
            <a:ext cx="3197880" cy="683280"/>
          </a:xfrm>
          <a:prstGeom prst="roundRect">
            <a:avLst>
              <a:gd name="adj" fmla="val 16667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  <a:ea typeface="DejaVu Sans"/>
              </a:rPr>
              <a:t>Upload Block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5601240" y="3416400"/>
            <a:ext cx="3197880" cy="68328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Security Policies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5601240" y="5702400"/>
            <a:ext cx="3197880" cy="683280"/>
          </a:xfrm>
          <a:prstGeom prst="roundRect">
            <a:avLst>
              <a:gd name="adj" fmla="val 16667"/>
            </a:avLst>
          </a:prstGeom>
          <a:solidFill>
            <a:srgbClr val="5EB9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Cloud Storage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1943640" y="6159600"/>
            <a:ext cx="3197880" cy="68328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  <a:ea typeface="DejaVu Sans"/>
              </a:rPr>
              <a:t>Log Violation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1943640" y="2044800"/>
            <a:ext cx="3197880" cy="683280"/>
          </a:xfrm>
          <a:prstGeom prst="roundRect">
            <a:avLst>
              <a:gd name="adj" fmla="val 16667"/>
            </a:avLst>
          </a:prstGeom>
          <a:solidFill>
            <a:srgbClr val="FF8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DLP Inspection Engine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2172240" y="3187800"/>
            <a:ext cx="2740680" cy="1369080"/>
          </a:xfrm>
          <a:prstGeom prst="diamond">
            <a:avLst/>
          </a:prstGeom>
          <a:solidFill>
            <a:srgbClr val="FFFF38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Is it Sensitive data 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5601240" y="4559400"/>
            <a:ext cx="3197880" cy="68328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  <a:ea typeface="DejaVu Sans"/>
              </a:rPr>
              <a:t>Logging and Monitoring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 flipV="1">
            <a:off x="3543840" y="181620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5" name=""/>
          <p:cNvSpPr/>
          <p:nvPr/>
        </p:nvSpPr>
        <p:spPr>
          <a:xfrm flipV="1">
            <a:off x="3543840" y="45594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6" name=""/>
          <p:cNvSpPr/>
          <p:nvPr/>
        </p:nvSpPr>
        <p:spPr>
          <a:xfrm flipV="1">
            <a:off x="3543840" y="27306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7" name=""/>
          <p:cNvSpPr/>
          <p:nvPr/>
        </p:nvSpPr>
        <p:spPr>
          <a:xfrm flipH="1">
            <a:off x="4915440" y="3873600"/>
            <a:ext cx="685800" cy="36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8" name=""/>
          <p:cNvSpPr/>
          <p:nvPr/>
        </p:nvSpPr>
        <p:spPr>
          <a:xfrm flipV="1">
            <a:off x="7201440" y="52452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9" name=""/>
          <p:cNvSpPr/>
          <p:nvPr/>
        </p:nvSpPr>
        <p:spPr>
          <a:xfrm flipV="1">
            <a:off x="3543840" y="57024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0" name=""/>
          <p:cNvSpPr/>
          <p:nvPr/>
        </p:nvSpPr>
        <p:spPr>
          <a:xfrm flipV="1">
            <a:off x="7201440" y="41022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1" name=""/>
          <p:cNvSpPr/>
          <p:nvPr/>
        </p:nvSpPr>
        <p:spPr>
          <a:xfrm>
            <a:off x="3772440" y="4559400"/>
            <a:ext cx="41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yes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4915080" y="3416400"/>
            <a:ext cx="382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No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266400" y="205560"/>
            <a:ext cx="8595720" cy="62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Modules :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ectangle 4"/>
          <p:cNvSpPr/>
          <p:nvPr/>
        </p:nvSpPr>
        <p:spPr>
          <a:xfrm>
            <a:off x="275760" y="3599280"/>
            <a:ext cx="303084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Content Placeholder 5"/>
          <p:cNvSpPr/>
          <p:nvPr/>
        </p:nvSpPr>
        <p:spPr>
          <a:xfrm>
            <a:off x="677880" y="1371960"/>
            <a:ext cx="8594280" cy="34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Module 1: Rule-Based Content Inspection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Module 2: Cryptographic Hashing for Integrity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Module 3: Secure Violation Logging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Module 4: User-Defined Security Policies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Module 5: Performance Optimization &amp; Cloud Integration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6"/>
          <p:cNvSpPr/>
          <p:nvPr/>
        </p:nvSpPr>
        <p:spPr>
          <a:xfrm>
            <a:off x="282960" y="156600"/>
            <a:ext cx="8594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1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Rule-Based Content Inspection</a:t>
            </a: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7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Goal: Automatically detect sensitive data (PII, financial, credentials) in files and payloads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Approach: Predefined rules using regex patterns, keywords, and context (e.g., “DOB: 01/01/2000”)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Pipeline: Input → normalization → rule evaluation → list of violations → actions (block/mask/allow)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Benefits: Simple, explainable, and auditable detection; foundation for all later modules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8"/>
          <p:cNvSpPr/>
          <p:nvPr/>
        </p:nvSpPr>
        <p:spPr>
          <a:xfrm>
            <a:off x="-142560" y="177120"/>
            <a:ext cx="10295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Cryptographic Hashing for Integrity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9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Goal: Make DLP records and content fingerprints tamper-evident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Technique: Secure hash functions (e.g., SHA-256) applied to violation fields and/or content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Design: Per-record hashes + optional hash chaining across log entries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Outcome: Any modification of critical fields is detectable during audits or investigations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3"/>
          <p:cNvSpPr/>
          <p:nvPr/>
        </p:nvSpPr>
        <p:spPr>
          <a:xfrm>
            <a:off x="-142560" y="177120"/>
            <a:ext cx="10295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Cryptographic Hashing for Integrity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14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Goal: Make DLP records and content fingerprints tamper-evident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Technique: Secure hash functions (e.g., SHA-256) applied to violation fields and/or content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Design: Per-record hashes + optional hash chaining across log entries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Outcome: Any modification of critical fields is detectable during audits or investigations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5"/>
          <p:cNvSpPr/>
          <p:nvPr/>
        </p:nvSpPr>
        <p:spPr>
          <a:xfrm>
            <a:off x="-142560" y="177120"/>
            <a:ext cx="10295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Cryptographic Hashing for Integrity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16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Goal: Make DLP records and content fingerprints tamper-evident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Technique: Secure hash functions (e.g., SHA-256) applied to violation fields and/or content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Design: Per-record hashes + optional hash chaining across log entries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Outcome: Any modification of critical fields is detectable during audits or investigations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0"/>
          <p:cNvSpPr/>
          <p:nvPr/>
        </p:nvSpPr>
        <p:spPr>
          <a:xfrm>
            <a:off x="282960" y="156600"/>
            <a:ext cx="8594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</a:rPr>
              <a:t>Module 3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</a:rPr>
              <a:t>: Secure Violation Logging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11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Goal: Capture DLP violations in a secure, compliant, and useful way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Log contents: Timestamp, rule ID, user/service, resource info, action, severity, violation_hash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Security: Integrity via hashes; confidentiality via masking/truncation and access control on logs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Value: Reliable evidence for audits, incident response, and tuning DLP rules/policies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7"/>
          <p:cNvSpPr/>
          <p:nvPr/>
        </p:nvSpPr>
        <p:spPr>
          <a:xfrm>
            <a:off x="282960" y="156600"/>
            <a:ext cx="8594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</a:rPr>
              <a:t>Module 3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</a:rPr>
              <a:t>: Secure Violation Logging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18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Goal: Capture DLP violations in a secure, compliant, and useful way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Log contents: Timestamp, rule ID, user/service, resource info, action, severity, violation_hash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Security: Integrity via hashes; confidentiality via masking/truncation and access control on logs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Value: Reliable evidence for audits, incident response, and tuning DLP rules/policies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9"/>
          <p:cNvSpPr/>
          <p:nvPr/>
        </p:nvSpPr>
        <p:spPr>
          <a:xfrm>
            <a:off x="282960" y="156600"/>
            <a:ext cx="8594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</a:rPr>
              <a:t>Module 3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</a:rPr>
              <a:t>: Secure Violation Logging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20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Goal: Capture DLP violations in a secure, compliant, and useful way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Log contents: Timestamp, rule ID, user/service, resource info, action, severity, violation_hash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Security: Integrity via hashes; confidentiality via masking/truncation and access control on logs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Value: Reliable evidence for audits, incident response, and tuning DLP rules/policies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Cloud Callout 3"/>
          <p:cNvSpPr/>
          <p:nvPr/>
        </p:nvSpPr>
        <p:spPr>
          <a:xfrm>
            <a:off x="2986560" y="5048640"/>
            <a:ext cx="4658400" cy="127332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bg1"/>
          </a:solidFill>
          <a:ln cap="rnd">
            <a:solidFill>
              <a:srgbClr val="6A8F1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12"/>
          <p:cNvSpPr/>
          <p:nvPr/>
        </p:nvSpPr>
        <p:spPr>
          <a:xfrm>
            <a:off x="665640" y="857160"/>
            <a:ext cx="8594280" cy="444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proposed blockchain-based voting system addresses major drawbacks of traditional electronic voting.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Decentralization eliminates single points of failure and increases system reliability.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 contracts enforce election rules automatically without human intervention.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system enhances transparency, security, and voter trust.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prototype demonstrates the practical feasibility of blockchain in electronic voting.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This work lays the foundation for future large-scale and national-level implementations.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1327</TotalTime>
  <Application>LibreOffice/26.2.0.3$Linux_X86_64 LibreOffice_project/620$Build-3</Application>
  <AppVersion>15.0000</AppVersion>
  <Words>40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cp:lastPrinted>2026-02-24T10:11:52Z</cp:lastPrinted>
  <dcterms:modified xsi:type="dcterms:W3CDTF">2026-02-25T10:17:26Z</dcterms:modified>
  <cp:revision>14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